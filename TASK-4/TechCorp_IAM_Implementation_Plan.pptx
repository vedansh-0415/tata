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700" b="1">
                <a:solidFill>
                  <a:srgbClr val="9ECFE2"/>
                </a:solidFill>
                <a:latin typeface="Aptos"/>
              </a:rPr>
              <a:t>TECHCORP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1078992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IAM Platform
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657600"/>
            <a:ext cx="978408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0">
                <a:solidFill>
                  <a:srgbClr val="DCE6F1"/>
                </a:solidFill>
                <a:latin typeface="Aptos"/>
              </a:rPr>
              <a:t>A phased roadmap for secure identity lifecycle management, access control, and enterprise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4892040"/>
            <a:ext cx="1234440" cy="73152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5212080"/>
            <a:ext cx="96012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300" b="0">
                <a:solidFill>
                  <a:srgbClr val="C2CFDF"/>
                </a:solidFill>
                <a:latin typeface="Aptos"/>
              </a:rPr>
              <a:t>Tata Consultancy Services Cybersecurity Analyst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C2CFD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62A4E"/>
                </a:solidFill>
                <a:latin typeface="Aptos"/>
              </a:rPr>
              <a:t>1.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36F7E"/>
                </a:solidFill>
                <a:latin typeface="Aptos"/>
              </a:rPr>
              <a:t>Context and outcomes for the proposed IAM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36F7E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2120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62A4E"/>
                </a:solidFill>
                <a:latin typeface="Aptos"/>
              </a:rPr>
              <a:t>TechCorp's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120640" cy="32004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Global operations across 100+ countries</a:t>
            </a:r>
          </a:p>
          <a:p>
            <a:pPr>
              <a:spcAft>
                <a:spcPts val="12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150,000+ employees and a broad digital footprint</a:t>
            </a:r>
          </a:p>
          <a:p>
            <a:pPr>
              <a:spcAft>
                <a:spcPts val="12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Legacy applications, third-party services, and cloud systems</a:t>
            </a:r>
          </a:p>
          <a:p>
            <a:pPr>
              <a:spcAft>
                <a:spcPts val="1200"/>
              </a:spcAft>
              <a:defRPr sz="1600">
                <a:solidFill>
                  <a:srgbClr val="2A3441"/>
                </a:solidFill>
                <a:latin typeface="Aptos"/>
              </a:defRPr>
            </a:pPr>
            <a:r>
              <a:t>Priority gaps: lifecycle automation and stronger access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2120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000" b="1">
                <a:solidFill>
                  <a:srgbClr val="162A4E"/>
                </a:solidFill>
                <a:latin typeface="Aptos"/>
              </a:rPr>
              <a:t>Target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24688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48840"/>
            <a:ext cx="82296" cy="1417320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21488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Reduce access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33472"/>
            <a:ext cx="2148840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Least privilege, MFA, access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148840"/>
            <a:ext cx="24688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5400" y="2148840"/>
            <a:ext cx="82296" cy="1417320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258568"/>
            <a:ext cx="21488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Automate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33472"/>
            <a:ext cx="2148840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Reliable joiner, mover, leaver workflows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94760"/>
            <a:ext cx="24688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82296" cy="1417320"/>
          </a:xfrm>
          <a:prstGeom prst="rect">
            <a:avLst/>
          </a:prstGeom>
          <a:solidFill>
            <a:srgbClr val="E6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04488"/>
            <a:ext cx="21488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Integrate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79392"/>
            <a:ext cx="2148840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Consistent identity controls across apps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3794760"/>
            <a:ext cx="24688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3794760"/>
            <a:ext cx="82296" cy="1417320"/>
          </a:xfrm>
          <a:prstGeom prst="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3904488"/>
            <a:ext cx="21488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Improve usability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279392"/>
            <a:ext cx="2148840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SSO and clear access request 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400" b="1">
                <a:solidFill>
                  <a:srgbClr val="636F7E"/>
                </a:solidFill>
                <a:latin typeface="Aptos"/>
              </a:rPr>
              <a:t>Design principle: centralized governance with phased, risk-based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62A4E"/>
                </a:solidFill>
                <a:latin typeface="Aptos"/>
              </a:rPr>
              <a:t>2. Proposed target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36F7E"/>
                </a:solidFill>
                <a:latin typeface="Aptos"/>
              </a:rPr>
              <a:t>Conceptual view — validate products and integrations during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36F7E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057400" cy="9144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82296" cy="914400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737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Authoritative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1737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HR / contractor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828800"/>
            <a:ext cx="2194560" cy="9144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828800"/>
            <a:ext cx="82296" cy="914400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38528"/>
            <a:ext cx="187451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IAM / IGA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13432"/>
            <a:ext cx="1874519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Identity lifecycle +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28800"/>
            <a:ext cx="2057400" cy="9144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828800"/>
            <a:ext cx="82296" cy="914400"/>
          </a:xfrm>
          <a:prstGeom prst="rect">
            <a:avLst/>
          </a:prstGeom>
          <a:solidFill>
            <a:srgbClr val="E6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938528"/>
            <a:ext cx="1737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Identity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13432"/>
            <a:ext cx="1737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SSO + MFA + federation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154680" cy="9144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828800"/>
            <a:ext cx="82296" cy="914400"/>
          </a:xfrm>
          <a:prstGeom prst="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1938528"/>
            <a:ext cx="28346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Provisioning &amp; connectors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313432"/>
            <a:ext cx="28346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Directories, APIs, SCIM where supported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6040" y="2286000"/>
            <a:ext cx="457200" cy="0"/>
          </a:xfrm>
          <a:prstGeom prst="line">
            <a:avLst/>
          </a:prstGeom>
          <a:ln w="25400">
            <a:solidFill>
              <a:srgbClr val="63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2286000"/>
            <a:ext cx="502920" cy="0"/>
          </a:xfrm>
          <a:prstGeom prst="line">
            <a:avLst/>
          </a:prstGeom>
          <a:ln w="25400">
            <a:solidFill>
              <a:srgbClr val="63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8120" y="2286000"/>
            <a:ext cx="502920" cy="0"/>
          </a:xfrm>
          <a:prstGeom prst="line">
            <a:avLst/>
          </a:prstGeom>
          <a:ln w="25400">
            <a:solidFill>
              <a:srgbClr val="63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" y="388620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96512"/>
            <a:ext cx="21031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2A4E"/>
                </a:solidFill>
                <a:latin typeface="Aptos"/>
              </a:rPr>
              <a:t>On-prem / legacy apps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88620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096512"/>
            <a:ext cx="21031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2A4E"/>
                </a:solidFill>
                <a:latin typeface="Aptos"/>
              </a:rPr>
              <a:t>SaaS / third-party apps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88620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096512"/>
            <a:ext cx="21031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2A4E"/>
                </a:solidFill>
                <a:latin typeface="Aptos"/>
              </a:rPr>
              <a:t>Cloud platforms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3886200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4096512"/>
            <a:ext cx="21031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2A4E"/>
                </a:solidFill>
                <a:latin typeface="Aptos"/>
              </a:rPr>
              <a:t>Privileged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62A4E"/>
                </a:solidFill>
                <a:latin typeface="Aptos"/>
              </a:rPr>
              <a:t>Cross-cutting controls: RBAC • least privilege • approvals • access certification • audit logging •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36F7E"/>
                </a:solidFill>
                <a:latin typeface="Aptos"/>
              </a:rPr>
              <a:t>Integration options depend on system support: SAML / OIDC for federation, SCIM or APIs for provisioning, LDAP / directory connectors where appropriate.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62A4E"/>
                </a:solidFill>
                <a:latin typeface="Aptos"/>
              </a:rPr>
              <a:t>3. 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36F7E"/>
                </a:solidFill>
                <a:latin typeface="Aptos"/>
              </a:rPr>
              <a:t>Indicative 20-week plan; confirm scope and staffing before committing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36F7E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874519" cy="242316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82296" cy="2423160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15544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1.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96312"/>
            <a:ext cx="1554479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Weeks 1–3
Inventory apps, identities, roles, risks; confirm owners and requirements.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79" y="3200400"/>
            <a:ext cx="411481" cy="0"/>
          </a:xfrm>
          <a:prstGeom prst="line">
            <a:avLst/>
          </a:prstGeom>
          <a:ln w="19050">
            <a:solidFill>
              <a:srgbClr val="63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2011680"/>
            <a:ext cx="1874519" cy="242316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2011680"/>
            <a:ext cx="82296" cy="2423160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121408"/>
            <a:ext cx="15544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2.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496312"/>
            <a:ext cx="1554479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Weeks 4–6
Define architecture, role model, lifecycle rules, MFA/SSO policies.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79" y="3200400"/>
            <a:ext cx="411481" cy="0"/>
          </a:xfrm>
          <a:prstGeom prst="line">
            <a:avLst/>
          </a:prstGeom>
          <a:ln w="19050">
            <a:solidFill>
              <a:srgbClr val="63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2011680"/>
            <a:ext cx="1874519" cy="242316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2011680"/>
            <a:ext cx="82296" cy="2423160"/>
          </a:xfrm>
          <a:prstGeom prst="rect">
            <a:avLst/>
          </a:prstGeom>
          <a:solidFill>
            <a:srgbClr val="E6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121408"/>
            <a:ext cx="15544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3.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96312"/>
            <a:ext cx="1554479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Weeks 7–10
Connect HR source, directory, and selected low/medium-risk apps.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80" y="3200400"/>
            <a:ext cx="411480" cy="0"/>
          </a:xfrm>
          <a:prstGeom prst="line">
            <a:avLst/>
          </a:prstGeom>
          <a:ln w="19050">
            <a:solidFill>
              <a:srgbClr val="63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52360" y="2011680"/>
            <a:ext cx="1874519" cy="242316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11680"/>
            <a:ext cx="82296" cy="2423160"/>
          </a:xfrm>
          <a:prstGeom prst="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121408"/>
            <a:ext cx="15544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4. Roll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496312"/>
            <a:ext cx="1554479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Weeks 11–16
Expand integrations; enforce MFA; automate joiner/mover/leaver flows.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3200400"/>
            <a:ext cx="411480" cy="0"/>
          </a:xfrm>
          <a:prstGeom prst="line">
            <a:avLst/>
          </a:prstGeom>
          <a:ln w="19050">
            <a:solidFill>
              <a:srgbClr val="63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38360" y="2011680"/>
            <a:ext cx="1874519" cy="242316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8360" y="2011680"/>
            <a:ext cx="82296" cy="2423160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121408"/>
            <a:ext cx="15544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5. Optimise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496312"/>
            <a:ext cx="1554479" cy="18562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Weeks 17–20
Review metrics, remediate gaps, tune policies, hand over operations.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1078992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162A4E"/>
                </a:solidFill>
                <a:latin typeface="Aptos"/>
              </a:rPr>
              <a:t>Milestone gates: requirements approved → design signed off → pilot passes security/UAT → rollout approved → operational handover.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36F7E"/>
                </a:solidFill>
                <a:latin typeface="Aptos"/>
              </a:rPr>
              <a:t>Timeline is an initial planning estimate, not a commitment; dependencies and application complexity may change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62A4E"/>
                </a:solidFill>
                <a:latin typeface="Aptos"/>
              </a:rPr>
              <a:t>4. Workstreams and implementation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36F7E"/>
                </a:solidFill>
                <a:latin typeface="Aptos"/>
              </a:rPr>
              <a:t>Translate the Task 3 IAM design into operational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36F7E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82296" cy="1828800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01368"/>
            <a:ext cx="32004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Identity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76272"/>
            <a:ext cx="3200400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300" b="0">
                <a:solidFill>
                  <a:srgbClr val="2A3441"/>
                </a:solidFill>
                <a:latin typeface="Aptos"/>
              </a:rPr>
              <a:t>• HR-triggered account creation
• Role-change access reconciliation
• Prompt leaver disablement
• Contractor sponsor and 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82296" cy="1828800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01368"/>
            <a:ext cx="32004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76272"/>
            <a:ext cx="3200400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300" b="0">
                <a:solidFill>
                  <a:srgbClr val="2A3441"/>
                </a:solidFill>
                <a:latin typeface="Aptos"/>
              </a:rPr>
              <a:t>• RBAC role catalogue
• Least-privilege defaults
• MFA for sensitive access
• Separate privileged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82296" cy="1828800"/>
          </a:xfrm>
          <a:prstGeom prst="rect">
            <a:avLst/>
          </a:prstGeom>
          <a:solidFill>
            <a:srgbClr val="E6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01368"/>
            <a:ext cx="320040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76272"/>
            <a:ext cx="3200400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300" b="0">
                <a:solidFill>
                  <a:srgbClr val="2A3441"/>
                </a:solidFill>
                <a:latin typeface="Aptos"/>
              </a:rPr>
              <a:t>• Manager / owner approvals
• Periodic access certification
• Audit logs and alerting
• Exception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51206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62A4E"/>
                </a:solidFill>
                <a:latin typeface="Aptos"/>
              </a:rPr>
              <a:t>People and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5120640" cy="14173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IAM architect / project lead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IAM engineer and integration specialists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HR, application, cloud, security, and compliance owners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Service desk, testing, and change-management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77639"/>
            <a:ext cx="51206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62A4E"/>
                </a:solidFill>
                <a:latin typeface="Aptos"/>
              </a:rPr>
              <a:t>Technology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434840"/>
            <a:ext cx="5120640" cy="14173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IAM / IGA platform and authoritative identity source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Identity provider with SSO and MFA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Application connectors, APIs, and supported standards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Central logging, monitoring, test and staging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62A4E"/>
                </a:solidFill>
                <a:latin typeface="Aptos"/>
              </a:rPr>
              <a:t>5. Integration challenges and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36F7E"/>
                </a:solidFill>
                <a:latin typeface="Aptos"/>
              </a:rPr>
              <a:t>Plan for heterogeneous systems, data consistency, and user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36F7E"/>
                </a:solidFill>
                <a:latin typeface="Aptos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9164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5394960"/>
              </a:tblGrid>
              <a:tr h="7239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16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Potential impact</a:t>
                      </a:r>
                    </a:p>
                  </a:txBody>
                  <a:tcPr>
                    <a:solidFill>
                      <a:srgbClr val="16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62A4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Legacy applications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May lack modern federation or provisioning interfaces.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Use supported adapters or a controlled workflow; isolate exceptions and log manual actions.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SaaS / third-party apps</a:t>
                      </a:r>
                    </a:p>
                  </a:txBody>
                  <a:tcPr marL="73152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Different SAML/OIDC and provisioning capabilities.</a:t>
                      </a:r>
                    </a:p>
                  </a:txBody>
                  <a:tcPr marL="73152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Classify apps by support; standardize patterns and validate vendor configuration.</a:t>
                      </a:r>
                    </a:p>
                  </a:txBody>
                  <a:tcPr marL="73152" marR="54864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Cloud and hybrid systems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Permission sprawl and inconsistent policy enforcement.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Use central federation, scoped roles, cloud permission reviews, and centralized audit events.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Identity data quality</a:t>
                      </a:r>
                    </a:p>
                  </a:txBody>
                  <a:tcPr marL="73152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Duplicate identities or stale attributes can create incorrect access.</a:t>
                      </a:r>
                    </a:p>
                  </a:txBody>
                  <a:tcPr marL="73152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Define authoritative attributes, reconciliation rules, data owners, and exception queues.</a:t>
                      </a:r>
                    </a:p>
                  </a:txBody>
                  <a:tcPr marL="73152" marR="54864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Availability / rollout risk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An outage or poor configuration could block legitimate access.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A3441"/>
                          </a:solidFill>
                          <a:latin typeface="Aptos"/>
                        </a:rPr>
                        <a:t>Pilot in waves, test rollback, monitor sign-in failures, and maintain controlled break-glass access.</a:t>
                      </a:r>
                    </a:p>
                  </a:txBody>
                  <a:tcPr marL="73152" marR="54864" marT="45720" marB="45720"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44768"/>
            <a:ext cx="10789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000" b="0">
                <a:solidFill>
                  <a:srgbClr val="636F7E"/>
                </a:solidFill>
                <a:latin typeface="Aptos"/>
              </a:rPr>
              <a:t>Standards are selected per capability: SAML/OIDC for sign-in federation; SCIM/APIs for provisioning where supported.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62A4E"/>
                </a:solidFill>
                <a:latin typeface="Aptos"/>
              </a:rPr>
              <a:t>6. Testing, security assurance, and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36F7E"/>
                </a:solidFill>
                <a:latin typeface="Aptos"/>
              </a:rPr>
              <a:t>No production rollout until defined acceptance criteria are 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36F7E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82296" cy="1828800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01368"/>
            <a:ext cx="31546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Functional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76272"/>
            <a:ext cx="3154679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300" b="0">
                <a:solidFill>
                  <a:srgbClr val="2A3441"/>
                </a:solidFill>
                <a:latin typeface="Aptos"/>
              </a:rPr>
              <a:t>• Joiner / mover / leaver scenarios
• Role assignment and approval paths
• SSO and MFA enrolment / recovery
• Provisioning failure and retry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82296" cy="1828800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01368"/>
            <a:ext cx="31546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Security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76272"/>
            <a:ext cx="3154679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300" b="0">
                <a:solidFill>
                  <a:srgbClr val="2A3441"/>
                </a:solidFill>
                <a:latin typeface="Aptos"/>
              </a:rPr>
              <a:t>• Unauthorized access attempts
• Least-privilege and role conflicts
• Privileged account controls
• Log completeness and alert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82296" cy="1828800"/>
          </a:xfrm>
          <a:prstGeom prst="rect">
            <a:avLst/>
          </a:prstGeom>
          <a:solidFill>
            <a:srgbClr val="E6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01368"/>
            <a:ext cx="3154679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User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76272"/>
            <a:ext cx="3154679" cy="1261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300" b="0">
                <a:solidFill>
                  <a:srgbClr val="2A3441"/>
                </a:solidFill>
                <a:latin typeface="Aptos"/>
              </a:rPr>
              <a:t>• Business-owner sign-off
• Usability and support readiness
• Performance and availability checks
• Rollback and recovery rehearsal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52120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62A4E"/>
                </a:solidFill>
                <a:latin typeface="Aptos"/>
              </a:rPr>
              <a:t>Deployment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5212080" cy="14173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Pilot first, then deploy in risk-based waves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Change approval, communication, and training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Backout plan and emergency access procedure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Track defects and require sign-off at each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977639"/>
            <a:ext cx="52120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800" b="1">
                <a:solidFill>
                  <a:srgbClr val="162A4E"/>
                </a:solidFill>
                <a:latin typeface="Aptos"/>
              </a:rPr>
              <a:t>Operational handover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434840"/>
            <a:ext cx="5212080" cy="141732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Runbooks, ownership, and escalation paths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Monitoring dashboards and alert thresholds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Access-review calendar and exception register</a:t>
            </a:r>
          </a:p>
          <a:p>
            <a:pPr>
              <a:spcAft>
                <a:spcPts val="500"/>
              </a:spcAft>
              <a:defRPr sz="1300">
                <a:solidFill>
                  <a:srgbClr val="2A3441"/>
                </a:solidFill>
                <a:latin typeface="Aptos"/>
              </a:defRPr>
            </a:pPr>
            <a:r>
              <a:t>Periodic policy and integration reviews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162A4E"/>
                </a:solidFill>
                <a:latin typeface="Aptos"/>
              </a:rPr>
              <a:t>7. Success measures and business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59536"/>
            <a:ext cx="822960" cy="54864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636F7E"/>
                </a:solidFill>
                <a:latin typeface="Aptos"/>
              </a:rPr>
              <a:t>Set baselines first; agree targets with stakeholders before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636F7E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82296" cy="621792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103784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Lifecycle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10378440" cy="548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Median provisioning time; time to disable leaver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04872"/>
            <a:ext cx="1069848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04872"/>
            <a:ext cx="82296" cy="621792"/>
          </a:xfrm>
          <a:prstGeom prst="rect">
            <a:avLst/>
          </a:prstGeom>
          <a:solidFill>
            <a:srgbClr val="1B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103784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Access hygiene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10378440" cy="548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Orphaned accounts, excessive permissions, overdue exceptions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9544"/>
            <a:ext cx="1069848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09544"/>
            <a:ext cx="82296" cy="621792"/>
          </a:xfrm>
          <a:prstGeom prst="rect">
            <a:avLst/>
          </a:prstGeom>
          <a:solidFill>
            <a:srgbClr val="E6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9272"/>
            <a:ext cx="103784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Control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94176"/>
            <a:ext cx="10378440" cy="548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MFA coverage; apps under automated provisioning; SSO adoption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14216"/>
            <a:ext cx="1069848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14216"/>
            <a:ext cx="82296" cy="621792"/>
          </a:xfrm>
          <a:prstGeom prst="rect">
            <a:avLst/>
          </a:prstGeom>
          <a:solidFill>
            <a:srgbClr val="36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23944"/>
            <a:ext cx="103784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98848"/>
            <a:ext cx="10378440" cy="548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Access reviews completed on time; privileged access recertified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18888"/>
            <a:ext cx="1069848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818888"/>
            <a:ext cx="82296" cy="621792"/>
          </a:xfrm>
          <a:prstGeom prst="rect">
            <a:avLst/>
          </a:prstGeom>
          <a:solidFill>
            <a:srgbClr val="2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28616"/>
            <a:ext cx="1037844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500" b="1">
                <a:solidFill>
                  <a:srgbClr val="162A4E"/>
                </a:solidFill>
                <a:latin typeface="Aptos"/>
              </a:rPr>
              <a:t>User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10378440" cy="548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2A3441"/>
                </a:solidFill>
                <a:latin typeface="Aptos"/>
              </a:rPr>
              <a:t>Access-related ticket volume; sign-in failure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162A4E"/>
                </a:solidFill>
                <a:latin typeface="Aptos"/>
              </a:rPr>
              <a:t>Business value: reduce unauthorized access risk, improve auditability, streamline operations, and provide consistent secure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"/>
              </a:rPr>
              <a:t>8. Recommendation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2100" b="1">
                <a:solidFill>
                  <a:srgbClr val="9ECFE2"/>
                </a:solidFill>
                <a:latin typeface="Aptos"/>
              </a:rPr>
              <a:t>Proceed with a phased, risk-based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424160" cy="22860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Validate the application inventory, identity sources, regulatory obligations, and current IAM capabilities.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Approve the target architecture, role model, lifecycle rules, and security policies with system owners.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Pilot a representative set of applications and test success criteria before expanding.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Use measured results to refine the rollout and transfer the service to steady-state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rPr sz="1200" b="0">
                <a:solidFill>
                  <a:srgbClr val="C2CFDF"/>
                </a:solidFill>
                <a:latin typeface="Aptos"/>
              </a:rPr>
              <a:t>Assumption: this is a proposed implementation plan. Products, exact timelines, and targets require discovery and stakeholder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2004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900" b="0">
                <a:solidFill>
                  <a:srgbClr val="C2CFD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